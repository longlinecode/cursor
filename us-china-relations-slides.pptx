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US-China Relations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Complex Global Partnership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World's two largest economies</a:t>
            </a:r>
          </a:p>
          <a:p>
            <a:pPr>
              <a:defRPr sz="1800"/>
            </a:pPr>
            <a:r>
              <a:t>Combined GDP: ~40% of global economy</a:t>
            </a:r>
          </a:p>
          <a:p>
            <a:pPr>
              <a:defRPr sz="1800"/>
            </a:pPr>
            <a:r>
              <a:t>Relationship characterized by cooperation and competition</a:t>
            </a:r>
          </a:p>
          <a:p>
            <a:pPr>
              <a:defRPr sz="1800"/>
            </a:pPr>
            <a:r>
              <a:t>Impacts global trade, security, and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**1972**: Nixon's historic visit to China</a:t>
            </a:r>
          </a:p>
          <a:p>
            <a:pPr>
              <a:defRPr sz="1800" b="1"/>
            </a:pPr>
            <a:r>
              <a:t>**1979**: Formal diplomatic relations established</a:t>
            </a:r>
          </a:p>
          <a:p>
            <a:pPr>
              <a:defRPr sz="1800" b="1"/>
            </a:pPr>
            <a:r>
              <a:t>**1980s-2000s**: Economic engagement and integration</a:t>
            </a:r>
          </a:p>
          <a:p>
            <a:pPr>
              <a:defRPr sz="1800" b="1"/>
            </a:pPr>
            <a:r>
              <a:t>**2001**: China joins WTO</a:t>
            </a:r>
          </a:p>
          <a:p>
            <a:pPr>
              <a:defRPr sz="1800" b="1"/>
            </a:pPr>
            <a:r>
              <a:t>**2010s-Present**: Strategic competition intensifies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Bilateral trade: ~$700+ billion annually</a:t>
            </a:r>
          </a:p>
          <a:p>
            <a:pPr>
              <a:defRPr sz="1800"/>
            </a:pPr>
            <a:r>
              <a:t>US is China's largest export market</a:t>
            </a:r>
          </a:p>
          <a:p>
            <a:pPr>
              <a:defRPr sz="1800"/>
            </a:pPr>
            <a:r>
              <a:t>China is America's 3rd largest export market</a:t>
            </a:r>
          </a:p>
          <a:p>
            <a:pPr>
              <a:defRPr sz="1800"/>
            </a:pPr>
            <a:r>
              <a:t>Significant trade imbalances remain a tension point</a:t>
            </a:r>
          </a:p>
          <a:p>
            <a:pPr>
              <a:defRPr b="1" sz="2400"/>
            </a:pPr>
            <a:r>
              <a:t>Investment</a:t>
            </a:r>
          </a:p>
          <a:p>
            <a:pPr>
              <a:defRPr sz="1800"/>
            </a:pPr>
            <a:r>
              <a:t>Cross-border investments in billions</a:t>
            </a:r>
          </a:p>
          <a:p>
            <a:pPr>
              <a:defRPr sz="1800"/>
            </a:pPr>
            <a:r>
              <a:t>Technology sector restrictions increasing</a:t>
            </a:r>
          </a:p>
          <a:p>
            <a:pPr>
              <a:defRPr sz="1800"/>
            </a:pPr>
            <a:r>
              <a:t>Supply chain diversification efforts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Areas of 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Semiconductors and chip manufacturing</a:t>
            </a:r>
          </a:p>
          <a:p>
            <a:pPr>
              <a:defRPr sz="1800"/>
            </a:pPr>
            <a:r>
              <a:t>Artificial intelligence development</a:t>
            </a:r>
          </a:p>
          <a:p>
            <a:pPr>
              <a:defRPr sz="1800"/>
            </a:pPr>
            <a:r>
              <a:t>5G infrastructure</a:t>
            </a:r>
          </a:p>
          <a:p>
            <a:pPr>
              <a:defRPr sz="1800"/>
            </a:pPr>
            <a:r>
              <a:t>Quantum computing</a:t>
            </a:r>
          </a:p>
          <a:p>
            <a:pPr>
              <a:defRPr b="1" sz="2400"/>
            </a:pPr>
            <a:r>
              <a:t>Security</a:t>
            </a:r>
          </a:p>
          <a:p>
            <a:pPr>
              <a:defRPr sz="1800"/>
            </a:pPr>
            <a:r>
              <a:t>South China Sea territorial disputes</a:t>
            </a:r>
          </a:p>
          <a:p>
            <a:pPr>
              <a:defRPr sz="1800"/>
            </a:pPr>
            <a:r>
              <a:t>Taiwan Strait tensions</a:t>
            </a:r>
          </a:p>
          <a:p>
            <a:pPr>
              <a:defRPr sz="1800"/>
            </a:pPr>
            <a:r>
              <a:t>Military modernization</a:t>
            </a:r>
          </a:p>
          <a:p>
            <a:pPr>
              <a:defRPr sz="1800"/>
            </a:pPr>
            <a:r>
              <a:t>Cybersecurity concerns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Areas of Cooperation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Joint commitments to emissions reduction</a:t>
            </a:r>
          </a:p>
          <a:p>
            <a:pPr>
              <a:defRPr sz="1800"/>
            </a:pPr>
            <a:r>
              <a:t>Clean energy technology collaboration</a:t>
            </a:r>
          </a:p>
          <a:p>
            <a:pPr>
              <a:defRPr sz="1800"/>
            </a:pPr>
            <a:r>
              <a:t>Paris Agreement participation</a:t>
            </a:r>
          </a:p>
          <a:p>
            <a:pPr>
              <a:defRPr b="1" sz="2400"/>
            </a:pPr>
            <a:r>
              <a:t>Global Health</a:t>
            </a:r>
          </a:p>
          <a:p>
            <a:pPr>
              <a:defRPr sz="1800"/>
            </a:pPr>
            <a:r>
              <a:t>Pandemic response coordination</a:t>
            </a:r>
          </a:p>
          <a:p>
            <a:pPr>
              <a:defRPr sz="1800"/>
            </a:pPr>
            <a:r>
              <a:t>Medical research partnerships</a:t>
            </a:r>
          </a:p>
          <a:p>
            <a:pPr>
              <a:defRPr b="1" sz="2400"/>
            </a:pPr>
            <a:r>
              <a:t>Economic Stability</a:t>
            </a:r>
          </a:p>
          <a:p>
            <a:pPr>
              <a:defRPr sz="1800"/>
            </a:pPr>
            <a:r>
              <a:t>Financial market interconnections</a:t>
            </a:r>
          </a:p>
          <a:p>
            <a:pPr>
              <a:defRPr sz="1800"/>
            </a:pPr>
            <a:r>
              <a:t>Currency and monetary policy dialogue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One China policy vs. Taiwan Relations Act</a:t>
            </a:r>
          </a:p>
          <a:p>
            <a:pPr>
              <a:defRPr sz="1800"/>
            </a:pPr>
            <a:r>
              <a:t>Increasing military activities</a:t>
            </a:r>
          </a:p>
          <a:p>
            <a:pPr>
              <a:defRPr sz="1800"/>
            </a:pPr>
            <a:r>
              <a:t>Semiconductor industry significance</a:t>
            </a:r>
          </a:p>
          <a:p>
            <a:pPr>
              <a:defRPr b="1" sz="2400"/>
            </a:pPr>
            <a:r>
              <a:t>Human Rights</a:t>
            </a:r>
          </a:p>
          <a:p>
            <a:pPr>
              <a:defRPr sz="1800"/>
            </a:pPr>
            <a:r>
              <a:t>Different governance philosophies</a:t>
            </a:r>
          </a:p>
          <a:p>
            <a:pPr>
              <a:defRPr sz="1800"/>
            </a:pPr>
            <a:r>
              <a:t>Xinjiang, Hong Kong, Tibet concerns</a:t>
            </a:r>
          </a:p>
          <a:p>
            <a:pPr>
              <a:defRPr sz="1800"/>
            </a:pPr>
            <a:r>
              <a:t>Press freedom and civil liberties</a:t>
            </a:r>
          </a:p>
          <a:p>
            <a:pPr>
              <a:defRPr b="1" sz="2400"/>
            </a:pPr>
            <a:r>
              <a:t>Trade Practices</a:t>
            </a:r>
          </a:p>
          <a:p>
            <a:pPr>
              <a:defRPr sz="1800"/>
            </a:pPr>
            <a:r>
              <a:t>Intellectual property protection</a:t>
            </a:r>
          </a:p>
          <a:p>
            <a:pPr>
              <a:defRPr sz="1800"/>
            </a:pPr>
            <a:r>
              <a:t>Market access and reciprocity</a:t>
            </a:r>
          </a:p>
          <a:p>
            <a:pPr>
              <a:defRPr sz="1800"/>
            </a:pPr>
            <a:r>
              <a:t>State subsidies and industrial policy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of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Strategic distrust on both sides</a:t>
            </a:r>
          </a:p>
          <a:p>
            <a:pPr>
              <a:defRPr sz="1800"/>
            </a:pPr>
            <a:r>
              <a:t>Decoupling pressures in key sectors</a:t>
            </a:r>
          </a:p>
          <a:p>
            <a:pPr>
              <a:defRPr sz="1800"/>
            </a:pPr>
            <a:r>
              <a:t>Geopolitical rivalry in Indo-Pacific</a:t>
            </a:r>
          </a:p>
          <a:p>
            <a:pPr>
              <a:defRPr sz="1800"/>
            </a:pPr>
            <a:r>
              <a:t>Ideological differences</a:t>
            </a:r>
          </a:p>
          <a:p>
            <a:pPr>
              <a:defRPr b="1" sz="2400"/>
            </a:pPr>
            <a:r>
              <a:t>Opportunities</a:t>
            </a:r>
          </a:p>
          <a:p>
            <a:pPr>
              <a:defRPr sz="1800"/>
            </a:pPr>
            <a:r>
              <a:t>Climate cooperation potential</a:t>
            </a:r>
          </a:p>
          <a:p>
            <a:pPr>
              <a:defRPr sz="1800"/>
            </a:pPr>
            <a:r>
              <a:t>Economic interdependence</a:t>
            </a:r>
          </a:p>
          <a:p>
            <a:pPr>
              <a:defRPr sz="1800"/>
            </a:pPr>
            <a:r>
              <a:t>Diplomatic channels remain open</a:t>
            </a:r>
          </a:p>
          <a:p>
            <a:pPr>
              <a:defRPr sz="1800"/>
            </a:pPr>
            <a:r>
              <a:t>People-to-people exchanges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Alliance systems and partnerships</a:t>
            </a:r>
          </a:p>
          <a:p>
            <a:pPr>
              <a:defRPr sz="1800"/>
            </a:pPr>
            <a:r>
              <a:t>International institutions and norms</a:t>
            </a:r>
          </a:p>
          <a:p>
            <a:pPr>
              <a:defRPr sz="1800"/>
            </a:pPr>
            <a:r>
              <a:t>Developing world engagement</a:t>
            </a:r>
          </a:p>
          <a:p>
            <a:pPr>
              <a:defRPr sz="1800"/>
            </a:pPr>
            <a:r>
              <a:t>Technology standards and governance</a:t>
            </a:r>
          </a:p>
          <a:p>
            <a:pPr>
              <a:defRPr sz="1800"/>
            </a:pPr>
            <a:r>
              <a:t>Global supply chain restructuring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**Managed Competition**: Rules-based rivalry with guardrails</a:t>
            </a:r>
          </a:p>
          <a:p>
            <a:pPr>
              <a:defRPr sz="1800" b="1"/>
            </a:pPr>
            <a:r>
              <a:t>**Strategic Decoupling**: Reduced interdependence</a:t>
            </a:r>
          </a:p>
          <a:p>
            <a:pPr>
              <a:defRPr sz="1800" b="1"/>
            </a:pPr>
            <a:r>
              <a:t>**Renewed Engagement**: Expanded cooperation areas</a:t>
            </a:r>
          </a:p>
          <a:p>
            <a:pPr>
              <a:defRPr b="1" sz="2400"/>
            </a:pPr>
            <a:r>
              <a:t>Key Variables</a:t>
            </a:r>
          </a:p>
          <a:p>
            <a:pPr>
              <a:defRPr sz="1800"/>
            </a:pPr>
            <a:r>
              <a:t>Leadership decisions in both countries</a:t>
            </a:r>
          </a:p>
          <a:p>
            <a:pPr>
              <a:defRPr sz="1800"/>
            </a:pPr>
            <a:r>
              <a:t>Economic conditions</a:t>
            </a:r>
          </a:p>
          <a:p>
            <a:pPr>
              <a:defRPr sz="1800"/>
            </a:pPr>
            <a:r>
              <a:t>Third-party dynamics (EU, ASEAN, etc.)</a:t>
            </a:r>
          </a:p>
          <a:p>
            <a:pPr>
              <a:defRPr sz="1800"/>
            </a:pPr>
            <a:r>
              <a:t>Technological developments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US-China relations define 21st century geopolitics</a:t>
            </a:r>
          </a:p>
          <a:p>
            <a:pPr>
              <a:defRPr sz="1800"/>
            </a:pPr>
            <a:r>
              <a:t>Both competition and cooperation will coexist</a:t>
            </a:r>
          </a:p>
          <a:p>
            <a:pPr>
              <a:defRPr sz="1800"/>
            </a:pPr>
            <a:r>
              <a:t>Managing tensions while finding common ground is essential</a:t>
            </a:r>
          </a:p>
          <a:p>
            <a:pPr>
              <a:defRPr sz="1800"/>
            </a:pPr>
            <a:r>
              <a:t>Global stability depends on constructive engagement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How can the US and China manage strategic competition?</a:t>
            </a:r>
          </a:p>
          <a:p>
            <a:pPr>
              <a:defRPr sz="1800"/>
            </a:pPr>
            <a:r>
              <a:t>What role should other countries play?</a:t>
            </a:r>
          </a:p>
          <a:p>
            <a:pPr>
              <a:defRPr sz="1800"/>
            </a:pPr>
            <a:r>
              <a:t>Which areas offer the best opportunities for cooperation?</a:t>
            </a:r>
          </a:p>
          <a:p>
            <a:pPr>
              <a:defRPr sz="1800"/>
            </a:pPr>
            <a:r>
              <a:t>How might technology shape the future relationship?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Council on Foreign Relations: US-China Relations</a:t>
            </a:r>
          </a:p>
          <a:p>
            <a:pPr>
              <a:defRPr sz="1800"/>
            </a:pPr>
            <a:r>
              <a:t>Brookings Institution: China-US Relations</a:t>
            </a:r>
          </a:p>
          <a:p>
            <a:pPr>
              <a:defRPr sz="1800"/>
            </a:pPr>
            <a:r>
              <a:t>CSIS: US-China Policy</a:t>
            </a:r>
          </a:p>
          <a:p>
            <a:pPr>
              <a:defRPr sz="1800"/>
            </a:pPr>
            <a:r>
              <a:t>US State Department</a:t>
            </a:r>
          </a:p>
          <a:p>
            <a:pPr>
              <a:defRPr sz="1800"/>
            </a:pPr>
            <a:r>
              <a:t>Various academic and policy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